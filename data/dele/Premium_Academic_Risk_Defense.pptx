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Academic Risk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B4D8"/>
                </a:solidFill>
              </a:rPr>
              <a:t>Random Forest Model | Sudin Maharjan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91440"/>
          </a:xfrm>
          <a:prstGeom prst="rect">
            <a:avLst/>
          </a:prstGeom>
          <a:solidFill>
            <a:srgbClr val="00B4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Late identification of at-risk students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Only GPA &amp; Attendance used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No early warning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91440"/>
          </a:xfrm>
          <a:prstGeom prst="rect">
            <a:avLst/>
          </a:prstGeom>
          <a:solidFill>
            <a:srgbClr val="00B4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Predict risk early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Use 15 multi-factor features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Enable targeted intervention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Proposed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91440"/>
          </a:xfrm>
          <a:prstGeom prst="rect">
            <a:avLst/>
          </a:prstGeom>
          <a:solidFill>
            <a:srgbClr val="00B4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Random Forest model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EMIS + Questionnaire data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Output: Risk level + feature importance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Data &amp;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91440"/>
          </a:xfrm>
          <a:prstGeom prst="rect">
            <a:avLst/>
          </a:prstGeom>
          <a:solidFill>
            <a:srgbClr val="00B4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15 features across 5 categories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Academic, Lifestyle, Psychological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Socio-economic &amp; Health factors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91440"/>
          </a:xfrm>
          <a:prstGeom prst="rect">
            <a:avLst/>
          </a:prstGeom>
          <a:solidFill>
            <a:srgbClr val="00B4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Imputation + Stratified split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SMOTE for imbalance (k=5)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Grid Search + 5-fold CV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Evaluation Focus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2743200"/>
          </a:xfrm>
          <a:prstGeom prst="roundRect">
            <a:avLst/>
          </a:prstGeom>
          <a:solidFill>
            <a:srgbClr val="00B4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Metrics:</a:t>
            </a:r>
          </a:p>
          <a:p>
            <a:r>
              <a:t>Accuracy</a:t>
            </a:r>
          </a:p>
          <a:p>
            <a:r>
              <a:t>F1-score</a:t>
            </a:r>
          </a:p>
          <a:p>
            <a:r>
              <a:t>Precision/Recall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3200400" cy="2743200"/>
          </a:xfrm>
          <a:prstGeom prst="roundRect">
            <a:avLst/>
          </a:prstGeom>
          <a:solidFill>
            <a:srgbClr val="00B4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Priority:</a:t>
            </a:r>
          </a:p>
          <a:p>
            <a:r>
              <a:t>High-Risk Recall</a:t>
            </a:r>
          </a:p>
          <a:p>
            <a:r>
              <a:t>(Most Critical)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Baseline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91440"/>
          </a:xfrm>
          <a:prstGeom prst="rect">
            <a:avLst/>
          </a:prstGeom>
          <a:solidFill>
            <a:srgbClr val="00B4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Decision Tree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Logistic Regression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KNN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Random Forest (Proposed)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Expected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2743200"/>
          </a:xfrm>
          <a:prstGeom prst="roundRect">
            <a:avLst/>
          </a:prstGeom>
          <a:solidFill>
            <a:srgbClr val="00B4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Accuracy:</a:t>
            </a:r>
          </a:p>
          <a:p>
            <a:r>
              <a:t>80–90%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3200400" cy="2743200"/>
          </a:xfrm>
          <a:prstGeom prst="roundRect">
            <a:avLst/>
          </a:prstGeom>
          <a:solidFill>
            <a:srgbClr val="00B4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High-Risk Recall:</a:t>
            </a:r>
          </a:p>
          <a:p>
            <a:r>
              <a:t>≥ 0.80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91440"/>
          </a:xfrm>
          <a:prstGeom prst="rect">
            <a:avLst/>
          </a:prstGeom>
          <a:solidFill>
            <a:srgbClr val="00B4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Early detection (8–10 months earlier)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Better intervention planning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Supports teachers &amp; policymakers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